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98" r:id="rId3"/>
    <p:sldId id="257" r:id="rId4"/>
    <p:sldId id="299" r:id="rId5"/>
    <p:sldId id="300" r:id="rId6"/>
    <p:sldId id="304" r:id="rId7"/>
    <p:sldId id="301" r:id="rId8"/>
    <p:sldId id="302" r:id="rId9"/>
    <p:sldId id="303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3" r:id="rId18"/>
    <p:sldId id="31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6449" autoAdjust="0"/>
  </p:normalViewPr>
  <p:slideViewPr>
    <p:cSldViewPr snapToGrid="0">
      <p:cViewPr varScale="1">
        <p:scale>
          <a:sx n="116" d="100"/>
          <a:sy n="116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295B5-EF2D-4F88-9684-0922C2BBE886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A5E4B-ECB3-42EA-842F-FE82EB744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9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81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2D279-97BA-BD06-DC85-3BBD9916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C64D6-84AA-E6C9-4B0E-EB734292E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E7B01-D7C4-1FAD-2168-D61050D6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1A829-E0DD-DFC2-A0B1-ED20A76F8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32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47FA-87C9-C781-553B-09BE1CE0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763F0-9839-D891-2188-58D96D388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8E7EB-9B35-8CC2-FA3D-697FFE127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62201-2C96-CE97-9CE3-8A6345869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7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89AB-7C08-D746-F823-E2BD8F4B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B8A31-156B-BAEB-281E-84C9CC602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D18DE-3449-2909-0E00-53C9E4BDB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37FD1-DB33-0C3D-FC78-E666D8445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19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46CA-D604-6D36-A92E-5C9E9BCA3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FFA46-9BA3-8987-29B2-92C5A1BAC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76F20-4F68-DDA8-4F78-9A5999178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47064-4755-E875-C31F-997AD19CD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9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B220-E4A9-99C0-7763-24350F73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9B9D8-E654-49C6-705B-3A84B4576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385B0-C9C8-6A1F-7A9F-9FAEAA6CB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A690A-DFB7-F485-8894-C641CB5D1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74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D257E-74C3-3E7F-8632-768195EC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E2A05-18A4-A91E-0448-8129862BC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1BAB72-D21A-F843-9F83-2F847DC51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A70CB-7D1A-5D29-5638-EFCBDB004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73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C49F-D098-EFC0-A254-1085A633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E22E6-70DE-AC78-FC70-39CB733E3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EEA77-D1ED-2CA9-4C57-B396B67DB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F34E5-BBF0-E7E1-F126-0333E2BAA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38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E0F0-BCDF-3049-B1D0-6BFDE740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9BF0D-D1AA-7B5A-35CC-EF428A949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C2FAF-EC85-0D12-4508-D2D504A1E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0EAA9-0FA1-D51A-A972-5C38B73EE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62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3689E-D4EE-84FF-8152-B96363DA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0EC30-D7FA-0C59-DD03-71F8E8A2E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F62C5-649D-B8FE-472A-9CB7ECAFB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45513-91FE-7C1C-E698-2727DA380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60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FE4C2-C877-4D9C-C069-0C9D9A77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E6959-A168-0E71-ADF8-3E2AA7A6A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C295C-2D72-BA91-6578-142443C2B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23C36-FB9B-3DFA-4C14-60915C80F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00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02D8-3B02-E751-3583-3A9D3B58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102CF-9827-01D8-E898-A94E3BEF5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FC436-E755-FF4C-974E-D9832239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2C391-2625-A86D-F828-338656D82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513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BB15A-B8DE-C4B1-D5EB-272739B2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ACCC1-6AB4-9071-B959-44BB3854C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EC29E-77C2-16F0-3021-8DF1F81A3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32A1D-4D15-E93C-4690-02CA4922B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6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83FE3-E753-4D6A-9FF5-D1D0DEAD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441F7-00D0-CF2A-F8C8-DFCE5FF38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49A0-714F-7B49-B9EA-405C3C94E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64C06-C599-EA60-8E97-0EF3F682D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93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03B8-5B29-FE24-0DFF-FBEBF003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9656D-B935-0204-0311-6E7F66722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E5AB1-006A-FD61-5040-B613FFBC0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AA768-8139-36F2-07E2-576D23559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74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7108-A95D-6392-5715-538D7C1E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2AE60-DB9E-DD74-3291-E3DDAFE4C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A5568-12C4-743B-72A1-89AA23937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6AE36-0979-3E2F-7D87-B8C34AFCA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02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661C-736C-B56D-2483-D7B5E213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45D41-3CF6-477F-3FF1-9528217CA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E4089-6186-1713-E98B-84A1E9199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4C16F-8806-AFF5-6F8D-D759C861E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A5E4B-ECB3-42EA-842F-FE82EB7442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09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0A968-9B88-7C20-6579-E8E2B934B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D46F2-1EFF-5F98-00C4-97A145A7A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418B4-AFD0-742A-8B22-2794B144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3F1A-4068-4504-A153-63FEFF41A170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F22A2-4577-4C5C-5049-7988966A4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82ABC-87A2-FF2C-550D-6333033B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EB73-A01E-7028-F1C2-52F60C31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31A6-BD92-F416-C308-6386FACDF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AA96F-E225-6D09-FDF8-02DA22E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E4DE-57AF-4648-86C3-DC2D066F0838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E6302-66EF-53BE-7764-BB7D3DE2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FE5C0-DB85-15E5-A781-51D5E021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8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8003-C460-252F-C461-DDDCF18B2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DEA13-BE21-EEC0-5F46-F84FC9A1E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10575-6824-2CB7-A88E-93F7E9C24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ABFD2-0A48-43AE-B3F8-7B55B25D5758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09B94-E663-D2AA-CBBE-31AAF32A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D0A9B-BE78-B9A5-7461-AAD13F7C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7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CDDD-10F9-D45E-0572-19A49377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B89B2-3794-A28A-5963-39B48BADD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E1687-84D3-30E4-E7C4-2EE4660BF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1A7F2-76E7-275D-56C9-EDFFF2D8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52E58-9A2A-4F79-8187-3ED90BE96086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BBE18-03D2-04B3-3E00-CA69E489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7E6D4-33A7-4559-EA6D-3E67F023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2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6BD8-8A6B-F90C-32F4-46FCB265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DE334-03D4-1AF9-2880-048C73A00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52918-D157-ED4D-9E6A-66F3D1E3B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DFD17-7695-73BF-D035-E86127E40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F7820-28B3-76C2-4A87-1666D38C3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C3137-3F29-DA92-6553-4E763154D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6CA2F-D8C9-4399-A84E-CFC6475CD6A7}" type="datetime1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D0CFE-EDE3-0845-6238-4554FDFB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A19ED-9165-1197-6314-1374373D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2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DF16-A099-06D1-87E2-BD9DEE2E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41997-BC73-0B26-6872-446DB254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B2D77-C4A5-4A96-90B6-5010C34DC5DB}" type="datetime1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671E0-B912-24A3-001B-A8FA824D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BC4B1-C828-A03F-8EA3-CDC122C5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90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088B6-BBDC-AEC9-6762-B9C953C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CA73-B99C-45C2-8DA3-69A4863FE707}" type="datetime1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DAD06A-A14D-2E6B-4441-969A8A6D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7D724-ECF7-72F2-FF8E-443F7384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57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46DCC-4D76-7478-F683-BDFDE1F1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CA96-720E-DB7E-3FFD-9089A728C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A22FA-BAC8-A052-9145-1EC6E3959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7E37A-09E9-4115-2918-E51DC414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A71F-13F5-4F4A-8B31-07155F3F7D20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15D2B-6E34-C148-06B0-A0D035CF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500CB-8ED7-1CAD-D3D1-3226F553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5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F6B5-05C8-400A-5FAF-FAEAD2F12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452D7-641F-6EAD-4832-590E4A6B7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E7C66-9671-4E85-1813-DC6AA4D67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7A678-8EAD-FF9B-BBE3-92C1332B8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FC5-F155-46BA-872D-A6C108D73206}" type="datetime1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46B93-2252-592C-C173-8012A9AE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D41C6-BDA3-2DE6-CC19-152FEDAF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165-0F8E-DA52-07D8-31F3AC4E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6207F-663D-5C42-FE1C-0765D84EF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5A5CC-3153-5B62-E003-8231485A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D53DF-6562-4A5A-97D4-14BB81AA7837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C05FA-CA64-D7F3-9EE8-F720AB4F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8640D-82E3-FC86-21E3-B5C02A40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3D19F-58D3-5378-99B5-3CBD226AA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2F9EB-D176-FF25-3F3A-FC8679C56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563E9-3CF5-0DD0-4A64-B8F3F0E0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25D8-8EF3-421A-848B-4D9DFDBB962C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A51F2-A7C5-1B9C-F3E1-712467A5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Seminar (CSC-790-U19)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9F09F-E02E-BBDD-FD86-BCA07D0F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8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F98103-DF8B-06EE-AEE0-54A1CC8D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E33CB-182E-7A98-AF16-E280423E9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F8E40-BF5F-9396-39B7-EE1EDDD04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03166-BBF8-458E-BA61-E8A75C94D529}" type="datetime1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031BD-F105-38F4-5914-8E7A3CC33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Seminar (CSC-790-U19)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28CB-7816-C542-B1AD-516E9EEE6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ED8D0-0D45-49A6-AFAB-428A084FB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edia.org/sentiment-analysis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igher Ed Marketing | USD Case Study | Sextant Marketing">
            <a:extLst>
              <a:ext uri="{FF2B5EF4-FFF2-40B4-BE49-F238E27FC236}">
                <a16:creationId xmlns:a16="http://schemas.microsoft.com/office/drawing/2014/main" id="{03A1A51B-C593-4008-3146-3E1AD71F32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4945726" y="144779"/>
            <a:ext cx="2032818" cy="109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780677-A8C0-9CAA-FC1F-752E127434FD}"/>
              </a:ext>
            </a:extLst>
          </p:cNvPr>
          <p:cNvSpPr txBox="1"/>
          <p:nvPr/>
        </p:nvSpPr>
        <p:spPr>
          <a:xfrm>
            <a:off x="0" y="1495224"/>
            <a:ext cx="12191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Georgia" panose="02040502050405020303" pitchFamily="18" charset="0"/>
                <a:ea typeface="+mj-lt"/>
                <a:cs typeface="Times New Roman" panose="02020603050405020304" pitchFamily="18" charset="0"/>
              </a:rPr>
              <a:t>Sentiment Analysis – A Comparative Study</a:t>
            </a:r>
          </a:p>
          <a:p>
            <a:pPr algn="ctr"/>
            <a:endParaRPr lang="en-US" sz="1400" b="1" dirty="0">
              <a:latin typeface="Georgia" panose="02040502050405020303" pitchFamily="18" charset="0"/>
              <a:ea typeface="+mj-lt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B159E-2F9F-793B-4868-2AD097EC0D37}"/>
              </a:ext>
            </a:extLst>
          </p:cNvPr>
          <p:cNvSpPr/>
          <p:nvPr/>
        </p:nvSpPr>
        <p:spPr>
          <a:xfrm>
            <a:off x="547815" y="6338078"/>
            <a:ext cx="11096368" cy="741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B525F-1E58-2F92-12A8-9E06137B278F}"/>
              </a:ext>
            </a:extLst>
          </p:cNvPr>
          <p:cNvSpPr txBox="1"/>
          <p:nvPr/>
        </p:nvSpPr>
        <p:spPr>
          <a:xfrm>
            <a:off x="547815" y="5898549"/>
            <a:ext cx="1109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  <a:ea typeface="+mj-lt"/>
                <a:cs typeface="Times New Roman" panose="02020603050405020304" pitchFamily="18" charset="0"/>
              </a:rPr>
              <a:t>April 13</a:t>
            </a:r>
            <a:r>
              <a:rPr lang="en-US" b="1" baseline="30000" dirty="0">
                <a:latin typeface="Georgia" panose="02040502050405020303" pitchFamily="18" charset="0"/>
                <a:ea typeface="+mj-lt"/>
                <a:cs typeface="Times New Roman" panose="02020603050405020304" pitchFamily="18" charset="0"/>
              </a:rPr>
              <a:t>th</a:t>
            </a:r>
            <a:r>
              <a:rPr lang="en-US" b="1" dirty="0">
                <a:latin typeface="Georgia" panose="02040502050405020303" pitchFamily="18" charset="0"/>
                <a:ea typeface="+mj-lt"/>
                <a:cs typeface="Times New Roman" panose="02020603050405020304" pitchFamily="18" charset="0"/>
              </a:rPr>
              <a:t>, 2025</a:t>
            </a:r>
            <a:endParaRPr lang="en-US" b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3AEA71F-E268-DD78-76CD-F0C592620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089700"/>
              </p:ext>
            </p:extLst>
          </p:nvPr>
        </p:nvGraphicFramePr>
        <p:xfrm>
          <a:off x="3021741" y="3737938"/>
          <a:ext cx="5880787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0787">
                  <a:extLst>
                    <a:ext uri="{9D8B030D-6E8A-4147-A177-3AD203B41FA5}">
                      <a16:colId xmlns:a16="http://schemas.microsoft.com/office/drawing/2014/main" val="3339511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Garamond" panose="02020404030301010803" pitchFamily="18" charset="0"/>
                        </a:rPr>
                        <a:t>Presentation By</a:t>
                      </a:r>
                    </a:p>
                    <a:p>
                      <a:pPr algn="ctr"/>
                      <a:r>
                        <a:rPr lang="en-US" sz="3200" b="1" dirty="0">
                          <a:latin typeface="Garamond" panose="02020404030301010803" pitchFamily="18" charset="0"/>
                        </a:rPr>
                        <a:t>Neerajdattu </a:t>
                      </a:r>
                      <a:r>
                        <a:rPr lang="en-US" sz="3200" b="1" dirty="0" err="1">
                          <a:latin typeface="Garamond" panose="02020404030301010803" pitchFamily="18" charset="0"/>
                        </a:rPr>
                        <a:t>Dudam</a:t>
                      </a:r>
                      <a:r>
                        <a:rPr lang="en-US" sz="3200" b="1" dirty="0">
                          <a:latin typeface="Garamond" panose="02020404030301010803" pitchFamily="18" charset="0"/>
                        </a:rPr>
                        <a:t> (101179017)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latin typeface="Garamond" panose="02020404030301010803" pitchFamily="18" charset="0"/>
                        </a:rPr>
                        <a:t>Teja </a:t>
                      </a:r>
                      <a:r>
                        <a:rPr lang="en-US" sz="3200" b="1" dirty="0" err="1">
                          <a:latin typeface="Garamond" panose="02020404030301010803" pitchFamily="18" charset="0"/>
                        </a:rPr>
                        <a:t>Mallireddy</a:t>
                      </a:r>
                      <a:r>
                        <a:rPr lang="en-US" sz="3200" b="1" dirty="0">
                          <a:latin typeface="Garamond" panose="02020404030301010803" pitchFamily="18" charset="0"/>
                        </a:rPr>
                        <a:t>(101180616)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789497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415340-BC78-B205-1574-73EFAB7C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EB4-6130-7FA3-80ED-C4FC281B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9EE5-8673-64D2-5FF1-44DFC277C106}"/>
              </a:ext>
            </a:extLst>
          </p:cNvPr>
          <p:cNvSpPr txBox="1"/>
          <p:nvPr/>
        </p:nvSpPr>
        <p:spPr>
          <a:xfrm>
            <a:off x="547815" y="5392692"/>
            <a:ext cx="11096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Georgia" panose="02040502050405020303" pitchFamily="18" charset="0"/>
                <a:ea typeface="+mj-lt"/>
                <a:cs typeface="Times New Roman" panose="02020603050405020304" pitchFamily="18" charset="0"/>
              </a:rPr>
              <a:t>Supervisor: Dr. Lina Chato</a:t>
            </a:r>
            <a:endParaRPr lang="en-US" sz="2400" b="1" i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group of emoticons with different facial expressions&#10;&#10;AI-generated content may be incorrect.">
            <a:extLst>
              <a:ext uri="{FF2B5EF4-FFF2-40B4-BE49-F238E27FC236}">
                <a16:creationId xmlns:a16="http://schemas.microsoft.com/office/drawing/2014/main" id="{4DDD6FCD-C37D-EBB6-1167-087DDFDC25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7602" b="33420"/>
          <a:stretch/>
        </p:blipFill>
        <p:spPr>
          <a:xfrm>
            <a:off x="3641813" y="2371747"/>
            <a:ext cx="4640642" cy="101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7AFB-64F0-B930-EE6B-8EEFDC6FE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56A2E32A-73E9-BF27-32CC-C70130F84F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D36F3B-BF5A-60F3-8F17-17E2DEFDEBB3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Inspiration and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4AEFEB-B040-596D-CF72-4BF422A137F8}"/>
              </a:ext>
            </a:extLst>
          </p:cNvPr>
          <p:cNvSpPr txBox="1"/>
          <p:nvPr/>
        </p:nvSpPr>
        <p:spPr>
          <a:xfrm>
            <a:off x="881313" y="1087651"/>
            <a:ext cx="10429369" cy="51321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Inspiration: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To deepen our understanding of Natural Language Processing by exploring various sentiment analysis techniques. Driven by the need to compare traditional and modern approaches for practical sentiment classification.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Objective: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To implement and evaluate lexicon-based, machine learning, and deep learning models for sentiment analysis. To develop a comparative analysis of diverse models and feature extraction techniques on balanced datasets.</a:t>
            </a:r>
          </a:p>
          <a:p>
            <a:pPr marL="285750" algn="just">
              <a:spcAft>
                <a:spcPts val="100"/>
              </a:spcAft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Key Goals:	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Implement and assess lexicon-based and classical ML sentiment classifiers.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Build and evaluate deep learning models including CNNs, LSTMs, and transformers.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Explore the effect of different feature engineering techniques like TF-IDF, Word2Vec, and </a:t>
            </a:r>
            <a:r>
              <a:rPr lang="en-US" sz="2000" dirty="0" err="1">
                <a:latin typeface="Garamond" panose="02020404030301010803" pitchFamily="18" charset="0"/>
                <a:ea typeface="+mn-lt"/>
                <a:cs typeface="+mn-lt"/>
              </a:rPr>
              <a:t>GloVe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.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Provide a comprehensive performance comparison to guide future sentiment analysis approaches.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932D10-2AE5-21B6-1EC3-9BFB90D2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DE4D7E0-3A9C-9D41-866E-F2ABF580E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</p:spTree>
    <p:extLst>
      <p:ext uri="{BB962C8B-B14F-4D97-AF65-F5344CB8AC3E}">
        <p14:creationId xmlns:p14="http://schemas.microsoft.com/office/powerpoint/2010/main" val="363885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00DFDC99-EE01-9EA0-C2F9-4B8D65CB64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44DD8C-210E-DAA0-C79B-69FE8943AFB8}"/>
              </a:ext>
            </a:extLst>
          </p:cNvPr>
          <p:cNvSpPr txBox="1"/>
          <p:nvPr/>
        </p:nvSpPr>
        <p:spPr>
          <a:xfrm>
            <a:off x="32952" y="273209"/>
            <a:ext cx="121260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Presentation Outline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8B4BD0-2652-36F4-F75E-ED8C3C82D346}"/>
              </a:ext>
            </a:extLst>
          </p:cNvPr>
          <p:cNvSpPr txBox="1"/>
          <p:nvPr/>
        </p:nvSpPr>
        <p:spPr>
          <a:xfrm>
            <a:off x="1201043" y="674815"/>
            <a:ext cx="7218337" cy="5550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Introduction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Text Preprocessing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Lexicon and Machine Learning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Workflow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Data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Experiments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Results and Conclusions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Future Directions</a:t>
            </a: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Garamond" panose="02020404030301010803" pitchFamily="18" charset="0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4DA8E-6BF4-4842-1D45-DFAFB9D7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3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DF2BD31-CAA0-BE17-823F-B53393E4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</p:spTree>
    <p:extLst>
      <p:ext uri="{BB962C8B-B14F-4D97-AF65-F5344CB8AC3E}">
        <p14:creationId xmlns:p14="http://schemas.microsoft.com/office/powerpoint/2010/main" val="356438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52D3-6609-574D-C829-897010AA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7AE7A860-66B4-9823-A7B7-99F888380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4B9A22-628D-BC95-E356-7517175FD16F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9F65B-7AB8-69FD-08D1-C2B894228AD0}"/>
              </a:ext>
            </a:extLst>
          </p:cNvPr>
          <p:cNvSpPr txBox="1"/>
          <p:nvPr/>
        </p:nvSpPr>
        <p:spPr>
          <a:xfrm>
            <a:off x="881313" y="1158900"/>
            <a:ext cx="10429369" cy="44781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Explosion of Textual Data: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In today's digital age, massive amounts of text are generated daily from social media, reviews, blogs, and feedback systems, making manual analysis impractical.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Importance of Sentiment Analysis: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A key NLP technique, sentiment analysis helps automatically determine the emotional tone—positive, negative, or neutral—embedded in textual content.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Applications Across Domains: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Beyond education, sentiment analysis is used in business for customer reviews, in politics for public opinion mining, and in healthcare for analyzing patient feedback.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Evolution of Techniques: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The field has evolved from lexicon-based methods like VADER to machine learning models such as Naive Bayes and SVMs, and now to advanced deep learning and transformer-based models like BERT and GPT.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63F47-E8EA-2BEC-1EA1-B8BF2165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8076AAE-6646-8775-C482-BA007AB8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</p:spTree>
    <p:extLst>
      <p:ext uri="{BB962C8B-B14F-4D97-AF65-F5344CB8AC3E}">
        <p14:creationId xmlns:p14="http://schemas.microsoft.com/office/powerpoint/2010/main" val="56598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2CDE-2F67-9FF4-120C-19DF9E2B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C36D9C8C-1BB3-95B1-2117-4FBF765BCB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27BAA5-264A-ECAB-4C79-DD41DC1F4BAD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Text Preprocessing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14B27-99E3-182F-80F8-858EEB43FD0B}"/>
              </a:ext>
            </a:extLst>
          </p:cNvPr>
          <p:cNvSpPr txBox="1"/>
          <p:nvPr/>
        </p:nvSpPr>
        <p:spPr>
          <a:xfrm>
            <a:off x="982096" y="2139202"/>
            <a:ext cx="10429369" cy="16825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Level 1: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Tokenization, Stop words, Lemmatization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Level 2: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Bag of Words, TF IDF, Unigrams, Bigrams, N-Grams.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Level 3: 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Word embeddings, word2vec, </a:t>
            </a:r>
            <a:r>
              <a:rPr lang="en-US" sz="2000" dirty="0" err="1">
                <a:latin typeface="Garamond" panose="02020404030301010803" pitchFamily="18" charset="0"/>
                <a:ea typeface="+mn-lt"/>
                <a:cs typeface="+mn-lt"/>
              </a:rPr>
              <a:t>GloVe</a:t>
            </a: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736788-F42C-438A-32AB-3A179639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0B0FA2D-F809-6507-0C1D-C7F3675D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</p:spTree>
    <p:extLst>
      <p:ext uri="{BB962C8B-B14F-4D97-AF65-F5344CB8AC3E}">
        <p14:creationId xmlns:p14="http://schemas.microsoft.com/office/powerpoint/2010/main" val="255850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E31C-31EC-C088-C160-7A97ACE7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590A9728-6DF3-8AC0-CF11-0E9123108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A1735A-EE10-0FC9-5129-BD7A0AE29555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>
                <a:latin typeface="Garamond" panose="02020404030301010803" pitchFamily="18" charset="0"/>
              </a:rPr>
              <a:t>Lexicon and Machine Learning</a:t>
            </a:r>
            <a:endParaRPr lang="en-US" sz="3200" b="1" u="sng" dirty="0">
              <a:latin typeface="Garamond" panose="020204040303010108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F6E4B-794E-B02C-37E9-567A3F9E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04CDAA2-D5F6-A830-84DE-F73F6A64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>
                <a:latin typeface="Garamond" panose="02020404030301010803" pitchFamily="18" charset="0"/>
              </a:rPr>
              <a:t>Artificial Intelligence (CSC-547-UT1)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9AA59D-B27C-56EF-BCEC-AE9CF68C0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12" y="1066800"/>
            <a:ext cx="467677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9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C077-CB5A-6C4C-6927-635344EC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037EF1C1-ECE8-7EFA-C07E-53C075C2D2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5BBEF6-C01D-E011-C4AA-6A002DDCC24B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Lexicon and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22783-2CAB-86C4-2CD4-87876368C359}"/>
              </a:ext>
            </a:extLst>
          </p:cNvPr>
          <p:cNvSpPr txBox="1"/>
          <p:nvPr/>
        </p:nvSpPr>
        <p:spPr>
          <a:xfrm>
            <a:off x="881313" y="1340132"/>
            <a:ext cx="10429369" cy="3593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Lexicon Based</a:t>
            </a:r>
          </a:p>
          <a:p>
            <a:pPr marL="285750" algn="just">
              <a:spcAft>
                <a:spcPts val="100"/>
              </a:spcAft>
            </a:pPr>
            <a:endParaRPr lang="en-US" sz="2000" b="1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Do not require training on labeled data.</a:t>
            </a: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Rely on predefined sentiment lexicons where each word is associated with a sentiment score.</a:t>
            </a: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Sentiment of a sentence or document is calculated based on the aggregate scores of the words it contains.</a:t>
            </a: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Simple, interpretable, and useful for domains where labeled data is scarce.</a:t>
            </a:r>
          </a:p>
          <a:p>
            <a:pPr marL="285750" algn="just">
              <a:spcAft>
                <a:spcPts val="100"/>
              </a:spcAft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285750" algn="just">
              <a:spcAft>
                <a:spcPts val="100"/>
              </a:spcAft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285750" algn="just">
              <a:spcAft>
                <a:spcPts val="100"/>
              </a:spcAft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VADER =&gt;</a:t>
            </a:r>
          </a:p>
          <a:p>
            <a:pPr marL="285750" algn="just">
              <a:spcAft>
                <a:spcPts val="100"/>
              </a:spcAft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11214E-D87D-C60D-26F0-C71DFED5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7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4FADC05-EA29-BA0E-ACE2-1A4C09CE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C3BE64-B719-8839-7A04-9C5E8CF861C3}"/>
                  </a:ext>
                </a:extLst>
              </p:cNvPr>
              <p:cNvSpPr txBox="1"/>
              <p:nvPr/>
            </p:nvSpPr>
            <p:spPr>
              <a:xfrm>
                <a:off x="2514600" y="4097566"/>
                <a:ext cx="6096000" cy="9723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𝐶𝑜𝑚𝑝𝑜𝑢𝑛𝑑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C3BE64-B719-8839-7A04-9C5E8CF86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4097566"/>
                <a:ext cx="6096000" cy="9723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93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DD32-7FA4-66A4-55D7-D6B2E282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34729310-6F21-4CBD-5A41-84B5969C5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0531B2-6A98-E9BA-74A7-2CE1748A8F0B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Lexicon and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65EF4-6235-ECEB-07A4-01910DBEAFFD}"/>
              </a:ext>
            </a:extLst>
          </p:cNvPr>
          <p:cNvSpPr txBox="1"/>
          <p:nvPr/>
        </p:nvSpPr>
        <p:spPr>
          <a:xfrm>
            <a:off x="881313" y="1340132"/>
            <a:ext cx="10429369" cy="45679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b="1" dirty="0">
                <a:latin typeface="Garamond" panose="02020404030301010803" pitchFamily="18" charset="0"/>
                <a:ea typeface="+mn-lt"/>
                <a:cs typeface="+mn-lt"/>
              </a:rPr>
              <a:t>Machine learning Based</a:t>
            </a:r>
          </a:p>
          <a:p>
            <a:pPr marL="285750" algn="just">
              <a:spcAft>
                <a:spcPts val="100"/>
              </a:spcAft>
            </a:pPr>
            <a:endParaRPr lang="en-US" sz="2000" b="1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Require labeled data for training models to learn sentiment patterns.</a:t>
            </a: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Convert text into numerical features using techniques like </a:t>
            </a:r>
            <a:r>
              <a:rPr lang="en-US" sz="2000" dirty="0" err="1">
                <a:latin typeface="Garamond" panose="02020404030301010803" pitchFamily="18" charset="0"/>
                <a:ea typeface="+mn-lt"/>
                <a:cs typeface="+mn-lt"/>
              </a:rPr>
              <a:t>CountVectorizer</a:t>
            </a: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 or TF-IDF.</a:t>
            </a: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Learn patterns and decision boundaries using algorithms like: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Naive Bayes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Logistic Regression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Support Vector Machines (SVM)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Decision Tree / Random Forest</a:t>
            </a:r>
          </a:p>
          <a:p>
            <a:pPr marL="1085850" lvl="1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Can generalize better than lexicon methods on large, diverse datasets.</a:t>
            </a:r>
          </a:p>
          <a:p>
            <a:pPr marL="628650" indent="-34290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More flexible and customizable, but may require more computational resources.</a:t>
            </a:r>
          </a:p>
          <a:p>
            <a:pPr marL="285750" algn="just">
              <a:spcAft>
                <a:spcPts val="100"/>
              </a:spcAft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285750" algn="just">
              <a:spcAft>
                <a:spcPts val="100"/>
              </a:spcAft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FBD2C-A369-7424-47A9-5098AA22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31DC6C2-7BDA-C06E-9F89-B4CCF89A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</p:spTree>
    <p:extLst>
      <p:ext uri="{BB962C8B-B14F-4D97-AF65-F5344CB8AC3E}">
        <p14:creationId xmlns:p14="http://schemas.microsoft.com/office/powerpoint/2010/main" val="384255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A1D9A-BD68-9C26-E0FB-889C6D02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749E4AA0-39BE-D9A9-7502-ADFF975F44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94D607-CCE1-D5C5-C5A8-0A6963CA1C4B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Workflow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F91DB-35B7-15FC-8800-B3B83575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BAEEE6E-1C2D-3B6F-BBD9-C1A3AC03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p:pic>
        <p:nvPicPr>
          <p:cNvPr id="2" name="Picture 1" descr="A diagram of a method&#10;&#10;AI-generated content may be incorrect.">
            <a:extLst>
              <a:ext uri="{FF2B5EF4-FFF2-40B4-BE49-F238E27FC236}">
                <a16:creationId xmlns:a16="http://schemas.microsoft.com/office/drawing/2014/main" id="{6CCC34DC-75DC-2F57-69B8-706DF6B1F5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3" y="787221"/>
            <a:ext cx="4603750" cy="5637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9654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D685-F0A3-3E03-8A3E-82437857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CB5B1407-4D88-60E8-961F-FB56E7151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B7FCD8-1D45-0D15-F27B-1B7D5D19C19A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FDA43E-4482-9DFD-7A1E-FD1D3E74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10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833E951-3C08-5040-2395-29443486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p:pic>
        <p:nvPicPr>
          <p:cNvPr id="5" name="Picture 4" descr="A group of pie charts&#10;&#10;AI-generated content may be incorrect.">
            <a:extLst>
              <a:ext uri="{FF2B5EF4-FFF2-40B4-BE49-F238E27FC236}">
                <a16:creationId xmlns:a16="http://schemas.microsoft.com/office/drawing/2014/main" id="{6527D5DF-3441-AE50-D68E-DECC48C9CB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39" y="905966"/>
            <a:ext cx="6875917" cy="48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7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13CD-9837-FBE9-3F56-5DDE4192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33E0C3D1-D49F-17FC-957D-88E8479ACC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BB7013-5C80-FA3D-1DCA-1D2C0EDC57FA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03AEE5-C478-B931-4390-5CB82D00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11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395A64F-EB58-20F5-CDC8-4BA6AD60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p:pic>
        <p:nvPicPr>
          <p:cNvPr id="2" name="Picture 1" descr="A table with rows of rows&#10;&#10;AI-generated content may be incorrect.">
            <a:extLst>
              <a:ext uri="{FF2B5EF4-FFF2-40B4-BE49-F238E27FC236}">
                <a16:creationId xmlns:a16="http://schemas.microsoft.com/office/drawing/2014/main" id="{1486EF55-AFEC-CC4A-B995-B9808EB905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49" b="32495"/>
          <a:stretch/>
        </p:blipFill>
        <p:spPr bwMode="auto">
          <a:xfrm>
            <a:off x="1523997" y="929393"/>
            <a:ext cx="9564127" cy="13283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E7A525-88A3-578B-0177-9F45B02D2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6684"/>
              </p:ext>
            </p:extLst>
          </p:nvPr>
        </p:nvGraphicFramePr>
        <p:xfrm>
          <a:off x="457199" y="2518638"/>
          <a:ext cx="11280371" cy="37084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379">
                  <a:extLst>
                    <a:ext uri="{9D8B030D-6E8A-4147-A177-3AD203B41FA5}">
                      <a16:colId xmlns:a16="http://schemas.microsoft.com/office/drawing/2014/main" val="3313095795"/>
                    </a:ext>
                  </a:extLst>
                </a:gridCol>
                <a:gridCol w="2193998">
                  <a:extLst>
                    <a:ext uri="{9D8B030D-6E8A-4147-A177-3AD203B41FA5}">
                      <a16:colId xmlns:a16="http://schemas.microsoft.com/office/drawing/2014/main" val="2650365106"/>
                    </a:ext>
                  </a:extLst>
                </a:gridCol>
                <a:gridCol w="2193998">
                  <a:extLst>
                    <a:ext uri="{9D8B030D-6E8A-4147-A177-3AD203B41FA5}">
                      <a16:colId xmlns:a16="http://schemas.microsoft.com/office/drawing/2014/main" val="3237762916"/>
                    </a:ext>
                  </a:extLst>
                </a:gridCol>
                <a:gridCol w="2193998">
                  <a:extLst>
                    <a:ext uri="{9D8B030D-6E8A-4147-A177-3AD203B41FA5}">
                      <a16:colId xmlns:a16="http://schemas.microsoft.com/office/drawing/2014/main" val="1599616153"/>
                    </a:ext>
                  </a:extLst>
                </a:gridCol>
                <a:gridCol w="2193998">
                  <a:extLst>
                    <a:ext uri="{9D8B030D-6E8A-4147-A177-3AD203B41FA5}">
                      <a16:colId xmlns:a16="http://schemas.microsoft.com/office/drawing/2014/main" val="709816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Garamond" panose="02020404030301010803" pitchFamily="18" charset="0"/>
                        </a:rPr>
                        <a:t>File_name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Garamond" panose="02020404030301010803" pitchFamily="18" charset="0"/>
                        </a:rPr>
                        <a:t>Total_rows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205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Garamond" panose="02020404030301010803" pitchFamily="18" charset="0"/>
                        </a:rPr>
                        <a:t>Yelp_train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42063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14021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14021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14021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049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Yelp_test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54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Yelp_val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3600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032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dynabench_train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7344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020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dynabench_test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353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dynabench_val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720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51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combined_train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49407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16469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16469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16469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81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combined_test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05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Garamond" panose="02020404030301010803" pitchFamily="18" charset="0"/>
                        </a:rPr>
                        <a:t>combined_val</a:t>
                      </a:r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1440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60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73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00C3-6209-8106-CCDD-AEFD2909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BCACD57C-3F0D-A922-BD8C-608E060B8F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D370D1-AD9F-EA49-5493-7ACA41CFE30B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D90D95-B3E4-8BEE-3924-956F851E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BCA77CAF-BBB6-0FF4-FE9A-1E7B6E89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2CA231-056E-A768-A77C-F2FDC19E1D27}"/>
                  </a:ext>
                </a:extLst>
              </p:cNvPr>
              <p:cNvSpPr txBox="1"/>
              <p:nvPr/>
            </p:nvSpPr>
            <p:spPr>
              <a:xfrm>
                <a:off x="881313" y="1158900"/>
                <a:ext cx="10429369" cy="462363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628650" indent="-342900" algn="just">
                  <a:spcAft>
                    <a:spcPts val="100"/>
                  </a:spcAft>
                  <a:buFont typeface="Wingdings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1: Using VADER</a:t>
                </a:r>
              </a:p>
              <a:p>
                <a:pPr marL="628650" indent="-342900" algn="just">
                  <a:spcAft>
                    <a:spcPts val="100"/>
                  </a:spcAft>
                  <a:buFont typeface="Wingdings"/>
                  <a:buChar char="Ø"/>
                </a:pP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285750" algn="just"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𝐶𝑜𝑚𝑝𝑜𝑢𝑛𝑑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𝑆𝑐𝑜𝑟𝑒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 </m:t>
                                  </m:r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000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2: Using AFINN</a:t>
                </a:r>
              </a:p>
              <a:p>
                <a:pPr marL="285750" algn="just">
                  <a:spcAft>
                    <a:spcPts val="100"/>
                  </a:spcAft>
                </a:pP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285750" algn="just"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𝑆𝑒𝑛𝑡𝑖𝑚𝑒𝑛𝑡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𝑆𝑐𝑜𝑟𝑒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𝑠𝑐𝑜𝑟𝑒</m:t>
                          </m:r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3: Using </a:t>
                </a:r>
                <a:r>
                  <a:rPr lang="en-US" sz="2000" b="1" dirty="0" err="1">
                    <a:latin typeface="Garamond" panose="02020404030301010803" pitchFamily="18" charset="0"/>
                    <a:ea typeface="+mn-lt"/>
                    <a:cs typeface="+mn-lt"/>
                  </a:rPr>
                  <a:t>SentiWordNet</a:t>
                </a: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285750" algn="just"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𝑆𝑒𝑛𝑡𝑖𝑚𝑒𝑛𝑡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𝑆𝑐𝑜𝑟𝑒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𝑃𝑜𝑠</m:t>
                              </m:r>
                            </m:e>
                            <m: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𝑁𝑒𝑔</m:t>
                              </m:r>
                            </m:e>
                            <m: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4: Using </a:t>
                </a:r>
                <a:r>
                  <a:rPr lang="en-US" sz="2000" b="1" dirty="0" err="1">
                    <a:latin typeface="Garamond" panose="02020404030301010803" pitchFamily="18" charset="0"/>
                    <a:ea typeface="+mn-lt"/>
                    <a:cs typeface="+mn-lt"/>
                  </a:rPr>
                  <a:t>TextBlob</a:t>
                </a: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2CA231-056E-A768-A77C-F2FDC19E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13" y="1158900"/>
                <a:ext cx="10429369" cy="4623638"/>
              </a:xfrm>
              <a:prstGeom prst="rect">
                <a:avLst/>
              </a:prstGeom>
              <a:blipFill>
                <a:blip r:embed="rId4"/>
                <a:stretch>
                  <a:fillRect t="-659" b="-1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639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B55C-9C90-56B5-7536-44DADAD2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A4509A0E-3EDF-FC15-D3C1-5594FD9F71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331388-4B47-39BB-51AC-311C450897F9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EC102A-0C7E-0EDC-80DC-3E9DA2E7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15777567-CD40-1541-5BC5-A3D89824E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 dirty="0">
                <a:latin typeface="Garamond" panose="02020404030301010803" pitchFamily="18" charset="0"/>
              </a:rPr>
              <a:t>Artificial Intelligence (CSC-547-UT1)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091C5F-B591-99A0-871E-58B1CF53AC0C}"/>
                  </a:ext>
                </a:extLst>
              </p:cNvPr>
              <p:cNvSpPr txBox="1"/>
              <p:nvPr/>
            </p:nvSpPr>
            <p:spPr>
              <a:xfrm>
                <a:off x="881313" y="1158900"/>
                <a:ext cx="10429369" cy="508350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628650" indent="-342900" algn="just">
                  <a:spcAft>
                    <a:spcPts val="100"/>
                  </a:spcAft>
                  <a:buFont typeface="Wingdings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5, 6: Naïve Bayes</a:t>
                </a:r>
              </a:p>
              <a:p>
                <a:pPr marL="628650" indent="-342900" algn="just">
                  <a:spcAft>
                    <a:spcPts val="100"/>
                  </a:spcAft>
                  <a:buFont typeface="Wingdings"/>
                  <a:buChar char="Ø"/>
                </a:pP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285750" algn="just"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</m:d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  <m:nary>
                            <m:naryPr>
                              <m:chr m:val="∏"/>
                              <m:limLoc m:val="undOvr"/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285750" algn="just"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func>
                        <m:func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𝑙𝑜𝑔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285750" algn="just">
                  <a:spcAft>
                    <a:spcPts val="1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sub>
                          </m:sSub>
                          <m:r>
                            <a:rPr lang="en-IN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IN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IN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+|</m:t>
                              </m:r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IN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7,8,9: Logistic Regression</a:t>
                </a:r>
              </a:p>
              <a:p>
                <a:pPr marL="285750" algn="just">
                  <a:spcAft>
                    <a:spcPts val="100"/>
                  </a:spcAft>
                </a:pP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10: SVM</a:t>
                </a: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11: Decision Tree</a:t>
                </a: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endParaRPr lang="en-US" sz="2000" b="1" dirty="0">
                  <a:latin typeface="Garamond" panose="02020404030301010803" pitchFamily="18" charset="0"/>
                  <a:ea typeface="+mn-lt"/>
                  <a:cs typeface="+mn-lt"/>
                </a:endParaRPr>
              </a:p>
              <a:p>
                <a:pPr marL="628650" indent="-342900" algn="just">
                  <a:spcAft>
                    <a:spcPts val="1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dirty="0">
                    <a:latin typeface="Garamond" panose="02020404030301010803" pitchFamily="18" charset="0"/>
                    <a:ea typeface="+mn-lt"/>
                    <a:cs typeface="+mn-lt"/>
                  </a:rPr>
                  <a:t>Exp 12: Random Forest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091C5F-B591-99A0-871E-58B1CF53A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13" y="1158900"/>
                <a:ext cx="10429369" cy="5083508"/>
              </a:xfrm>
              <a:prstGeom prst="rect">
                <a:avLst/>
              </a:prstGeom>
              <a:blipFill>
                <a:blip r:embed="rId4"/>
                <a:stretch>
                  <a:fillRect t="-600" b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76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54B7-0CA0-EC33-37AA-6395EA07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EAA48112-C550-F430-CC53-DDBB4ED1A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03A6B7-B124-39AC-D0FA-6A560F48E9ED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>
                <a:latin typeface="Garamond" panose="02020404030301010803" pitchFamily="18" charset="0"/>
              </a:rPr>
              <a:t>Results</a:t>
            </a:r>
            <a:endParaRPr lang="en-US" sz="3200" b="1" u="sng" dirty="0">
              <a:latin typeface="Garamond" panose="020204040303010108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3819D0-10AF-99E3-BC7D-7183077E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1CC0FB0-977B-0EB4-BA2B-C176962F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>
                <a:latin typeface="Garamond" panose="02020404030301010803" pitchFamily="18" charset="0"/>
              </a:rPr>
              <a:t>Artificial Intelligence (CSC-547-UT1)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6A8E8A-0A80-3841-E040-CCBBA2119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428727"/>
              </p:ext>
            </p:extLst>
          </p:nvPr>
        </p:nvGraphicFramePr>
        <p:xfrm>
          <a:off x="1515760" y="1142169"/>
          <a:ext cx="9160476" cy="4977977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551980">
                  <a:extLst>
                    <a:ext uri="{9D8B030D-6E8A-4147-A177-3AD203B41FA5}">
                      <a16:colId xmlns:a16="http://schemas.microsoft.com/office/drawing/2014/main" val="2874752567"/>
                    </a:ext>
                  </a:extLst>
                </a:gridCol>
                <a:gridCol w="3111659">
                  <a:extLst>
                    <a:ext uri="{9D8B030D-6E8A-4147-A177-3AD203B41FA5}">
                      <a16:colId xmlns:a16="http://schemas.microsoft.com/office/drawing/2014/main" val="345116963"/>
                    </a:ext>
                  </a:extLst>
                </a:gridCol>
                <a:gridCol w="1832279">
                  <a:extLst>
                    <a:ext uri="{9D8B030D-6E8A-4147-A177-3AD203B41FA5}">
                      <a16:colId xmlns:a16="http://schemas.microsoft.com/office/drawing/2014/main" val="2366277953"/>
                    </a:ext>
                  </a:extLst>
                </a:gridCol>
                <a:gridCol w="1832279">
                  <a:extLst>
                    <a:ext uri="{9D8B030D-6E8A-4147-A177-3AD203B41FA5}">
                      <a16:colId xmlns:a16="http://schemas.microsoft.com/office/drawing/2014/main" val="1357955992"/>
                    </a:ext>
                  </a:extLst>
                </a:gridCol>
                <a:gridCol w="1832279">
                  <a:extLst>
                    <a:ext uri="{9D8B030D-6E8A-4147-A177-3AD203B41FA5}">
                      <a16:colId xmlns:a16="http://schemas.microsoft.com/office/drawing/2014/main" val="4223809419"/>
                    </a:ext>
                  </a:extLst>
                </a:gridCol>
              </a:tblGrid>
              <a:tr h="94844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Exp No.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Experiment Name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Yelp Dataset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Dynabench Dataset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Combined Dataset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8770417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1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Using VADER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57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3835958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Using AFINN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57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5019389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Using SentiWordNet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44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0227434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Using TextBlob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50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54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51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4705790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Naive Bayes from Scratch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64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57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0583069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Multinomial Naive Bayes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65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57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9822614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7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Logistic Regression 1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54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49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45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131048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8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Logistic Regression 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60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50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56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8978329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9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Logistic Regression 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51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57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7222369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10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SVM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66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53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61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5302990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11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Decision Tree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55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49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9585781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12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Random Forest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62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Garamond" panose="02020404030301010803" pitchFamily="18" charset="0"/>
                        </a:rPr>
                        <a:t>54</a:t>
                      </a:r>
                      <a:endParaRPr lang="en-US" sz="1600" kern="10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26000"/>
                        </a:lnSpc>
                        <a:spcAft>
                          <a:spcPts val="75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Garamond" panose="02020404030301010803" pitchFamily="18" charset="0"/>
                        </a:rPr>
                        <a:t>59</a:t>
                      </a:r>
                      <a:endParaRPr lang="en-US" sz="1600" kern="100" dirty="0">
                        <a:solidFill>
                          <a:srgbClr val="000000"/>
                        </a:solidFill>
                        <a:effectLst/>
                        <a:latin typeface="Garamond" panose="020204040303010108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01897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6F905FA-4207-44A8-7293-4C8CE08ECD50}"/>
              </a:ext>
            </a:extLst>
          </p:cNvPr>
          <p:cNvSpPr txBox="1"/>
          <p:nvPr/>
        </p:nvSpPr>
        <p:spPr>
          <a:xfrm>
            <a:off x="1087395" y="7212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1800" b="1" dirty="0">
                <a:latin typeface="Garamond" panose="02020404030301010803" pitchFamily="18" charset="0"/>
                <a:ea typeface="+mn-lt"/>
                <a:cs typeface="+mn-lt"/>
              </a:rPr>
              <a:t>Test Accuracy (%)</a:t>
            </a:r>
          </a:p>
        </p:txBody>
      </p:sp>
    </p:spTree>
    <p:extLst>
      <p:ext uri="{BB962C8B-B14F-4D97-AF65-F5344CB8AC3E}">
        <p14:creationId xmlns:p14="http://schemas.microsoft.com/office/powerpoint/2010/main" val="385342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EFF6-29D0-D939-5C13-B8BE83D8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6F87221F-5766-6C8E-DD2A-7AEAA39D4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DC0E3D-5C83-6766-1AB0-380D149A3E98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>
                <a:latin typeface="Garamond" panose="02020404030301010803" pitchFamily="18" charset="0"/>
              </a:rPr>
              <a:t>Results</a:t>
            </a:r>
            <a:endParaRPr lang="en-US" sz="3200" b="1" u="sng" dirty="0">
              <a:latin typeface="Garamond" panose="020204040303010108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A263D0-ABED-0DB7-7774-76F13E96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15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276CF0A6-6670-90E6-F36D-7E7CC762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>
                <a:latin typeface="Garamond" panose="02020404030301010803" pitchFamily="18" charset="0"/>
              </a:rPr>
              <a:t>Artificial Intelligence (CSC-547-UT1)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7144D1-E9F4-28F1-9D6A-AF8993D0A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670" y="1076093"/>
            <a:ext cx="9266656" cy="497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5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43D6-F07F-DFA7-DEEE-7955EFC3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04A14443-910D-11D7-5786-231D0CD2A1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EDF7F4-2693-1ABB-9D16-68AA046FA147}"/>
              </a:ext>
            </a:extLst>
          </p:cNvPr>
          <p:cNvSpPr txBox="1"/>
          <p:nvPr/>
        </p:nvSpPr>
        <p:spPr>
          <a:xfrm>
            <a:off x="32951" y="184666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Conclusion and Future Directions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417BA-4253-3992-6092-EA4A3788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16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BFD789F-EBF1-4798-6DFC-03131326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>
                <a:latin typeface="Garamond" panose="02020404030301010803" pitchFamily="18" charset="0"/>
              </a:rPr>
              <a:t>Artificial Intelligence (CSC-547-UT1)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7A6BA-FC0C-A716-562B-C87D69502BC7}"/>
              </a:ext>
            </a:extLst>
          </p:cNvPr>
          <p:cNvSpPr txBox="1"/>
          <p:nvPr/>
        </p:nvSpPr>
        <p:spPr>
          <a:xfrm>
            <a:off x="881313" y="1156405"/>
            <a:ext cx="10429369" cy="41703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Among the machine learning models, Logistic Regression and SVM with TF-IDF feature extraction showed better performance in sentiment classification.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Lexicon-based methods provided quick and interpretable results but lacked contextual understanding.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Traditional machine learning models performed well with proper preprocessing and feature engineering.</a:t>
            </a: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endParaRPr lang="en-US" sz="2000" dirty="0">
              <a:latin typeface="Garamond" panose="02020404030301010803" pitchFamily="18" charset="0"/>
              <a:ea typeface="+mn-lt"/>
              <a:cs typeface="+mn-lt"/>
            </a:endParaRPr>
          </a:p>
          <a:p>
            <a:pPr marL="628650" indent="-342900" algn="just">
              <a:spcAft>
                <a:spcPts val="100"/>
              </a:spcAft>
              <a:buFont typeface="Wingdings"/>
              <a:buChar char="Ø"/>
            </a:pPr>
            <a:r>
              <a:rPr lang="en-US" sz="2000" dirty="0">
                <a:latin typeface="Garamond" panose="02020404030301010803" pitchFamily="18" charset="0"/>
                <a:ea typeface="+mn-lt"/>
                <a:cs typeface="+mn-lt"/>
              </a:rPr>
              <a:t>Explore deep learning approaches such as CNN, RNN, LSTM, and transformer-based models like BERT. These models can better capture semantic context, word dependencies, and long-range relationships in text. Fine-tuning pretrained models like BERT on domain-specific data may further improve accuracy.</a:t>
            </a:r>
          </a:p>
        </p:txBody>
      </p:sp>
    </p:spTree>
    <p:extLst>
      <p:ext uri="{BB962C8B-B14F-4D97-AF65-F5344CB8AC3E}">
        <p14:creationId xmlns:p14="http://schemas.microsoft.com/office/powerpoint/2010/main" val="212207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4D81-421D-9634-B1DF-7DB308CC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D397A15A-2057-F6F3-AE7E-52285D707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6F8787-10F2-832D-F9A4-19A20D1EEB85}"/>
              </a:ext>
            </a:extLst>
          </p:cNvPr>
          <p:cNvSpPr txBox="1"/>
          <p:nvPr/>
        </p:nvSpPr>
        <p:spPr>
          <a:xfrm>
            <a:off x="32953" y="-965"/>
            <a:ext cx="1212609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latin typeface="Garamond" panose="02020404030301010803" pitchFamily="18" charset="0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67B34A-EAAA-5E22-041A-0074627D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17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134794F-585F-69D4-F52D-9FA315F3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>
                <a:latin typeface="Garamond" panose="02020404030301010803" pitchFamily="18" charset="0"/>
              </a:rPr>
              <a:t>Artificial Intelligence (CSC-547-UT1)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2AE426-3A1D-BA1A-6F91-416D1A17BE55}"/>
              </a:ext>
            </a:extLst>
          </p:cNvPr>
          <p:cNvSpPr txBox="1"/>
          <p:nvPr/>
        </p:nvSpPr>
        <p:spPr>
          <a:xfrm>
            <a:off x="719145" y="485718"/>
            <a:ext cx="10429369" cy="60071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[1] C. Hutto and E. Gilbert, "VADER: A parsimonious rule-based model for sentiment analysis of social media text," Proc. Int. AAAI Conf. Web Soc. Media, vol. 8, no. 1, 2014.  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[2] B. Liu, "Sentiment analysis," UIC, [Online]. Available: https://www.cs.uic.edu/~liub/FBS/sentiment-analysis.html. [Accessed: Feb. 6, 2025].  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[3] B. Pang, L. Lee, and S. Vaithyanathan, "Thumbs up? Sentiment classification using machine learning techniques," </a:t>
            </a:r>
            <a:r>
              <a:rPr lang="en-US" sz="1400" dirty="0" err="1">
                <a:latin typeface="Garamond" panose="02020404030301010803" pitchFamily="18" charset="0"/>
                <a:ea typeface="+mn-lt"/>
                <a:cs typeface="+mn-lt"/>
              </a:rPr>
              <a:t>arXiv</a:t>
            </a: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 preprint cs/0205070, 2002.  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[4] T. Joachims, "Text categorization with support vector machines: Learning with many relevant features," in Proc. Eur. Conf. Mach. Learn., Berlin, Heidelberg: Springer, 1998, pp. 137–142.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[5] J. P. Vink and G. de Haan, "Comparison of machine learning techniques for target detection," </a:t>
            </a:r>
            <a:r>
              <a:rPr lang="en-US" sz="1400" dirty="0" err="1">
                <a:latin typeface="Garamond" panose="02020404030301010803" pitchFamily="18" charset="0"/>
                <a:ea typeface="+mn-lt"/>
                <a:cs typeface="+mn-lt"/>
              </a:rPr>
              <a:t>Artif</a:t>
            </a: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. </a:t>
            </a:r>
            <a:r>
              <a:rPr lang="en-US" sz="1400" dirty="0" err="1">
                <a:latin typeface="Garamond" panose="02020404030301010803" pitchFamily="18" charset="0"/>
                <a:ea typeface="+mn-lt"/>
                <a:cs typeface="+mn-lt"/>
              </a:rPr>
              <a:t>Intell</a:t>
            </a: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. Rev., vol. 43, pp. 125–139, 2015.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[6] T. </a:t>
            </a:r>
            <a:r>
              <a:rPr lang="en-US" sz="1400" dirty="0" err="1">
                <a:latin typeface="Garamond" panose="02020404030301010803" pitchFamily="18" charset="0"/>
                <a:ea typeface="+mn-lt"/>
                <a:cs typeface="+mn-lt"/>
              </a:rPr>
              <a:t>Mikolov</a:t>
            </a: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 et al., "Distributed representations of words and phrases and their compositionality," in Adv. Neural Inf. Process. Syst., vol. 26, 2013.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[7] P. Liu, X. Qiu, and X. Huang, "Recurrent neural network for text classification with multi-task learning," </a:t>
            </a:r>
            <a:r>
              <a:rPr lang="en-US" sz="1400" dirty="0" err="1">
                <a:latin typeface="Garamond" panose="02020404030301010803" pitchFamily="18" charset="0"/>
                <a:ea typeface="+mn-lt"/>
                <a:cs typeface="+mn-lt"/>
              </a:rPr>
              <a:t>arXiv</a:t>
            </a: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 preprint arXiv:1605.05101, 2016.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[8] A. </a:t>
            </a:r>
            <a:r>
              <a:rPr lang="en-US" sz="1400" dirty="0" err="1">
                <a:latin typeface="Garamond" panose="02020404030301010803" pitchFamily="18" charset="0"/>
                <a:ea typeface="+mn-lt"/>
                <a:cs typeface="+mn-lt"/>
              </a:rPr>
              <a:t>Rakhlin</a:t>
            </a: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, "Convolutional neural networks for sentence classification," GitHub, vol. 6, p. 25, 2016.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[9] J. Devlin, M.-W. Chang, K. Lee, and K. Toutanova, "BERT: Pre-training of deep bidirectional transformers for language understanding," in Proc. NAACL-HLT, vol. 1, no. 2, 2019, pp. 4171–4186.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[10] T. Brown et al., "Language models are few-shot learners," in Adv. Neural Inf. Process. Syst., vol. 33, 2020, pp. 1877–1901.</a:t>
            </a:r>
          </a:p>
          <a:p>
            <a:pPr marL="285750" algn="just">
              <a:lnSpc>
                <a:spcPct val="150000"/>
              </a:lnSpc>
              <a:spcAft>
                <a:spcPts val="100"/>
              </a:spcAft>
            </a:pPr>
            <a:r>
              <a:rPr lang="en-US" sz="1400" dirty="0">
                <a:latin typeface="Garamond" panose="02020404030301010803" pitchFamily="18" charset="0"/>
                <a:ea typeface="+mn-lt"/>
                <a:cs typeface="+mn-lt"/>
              </a:rPr>
              <a:t>[11] C.-L. Chou, C.-H. Chang, and S.-Y. Wu, "Semi-supervised sequence labeling for named entity extraction based on tri-training: case study on Chinese person name extraction," in Proc. Third Workshop Semantic Web Inf. Extraction, 2014.</a:t>
            </a:r>
          </a:p>
        </p:txBody>
      </p:sp>
    </p:spTree>
    <p:extLst>
      <p:ext uri="{BB962C8B-B14F-4D97-AF65-F5344CB8AC3E}">
        <p14:creationId xmlns:p14="http://schemas.microsoft.com/office/powerpoint/2010/main" val="1388590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450C-4828-A383-7EBF-4FF776B8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igher Ed Marketing | USD Case Study | Sextant Marketing">
            <a:extLst>
              <a:ext uri="{FF2B5EF4-FFF2-40B4-BE49-F238E27FC236}">
                <a16:creationId xmlns:a16="http://schemas.microsoft.com/office/drawing/2014/main" id="{AFE9D160-98F4-DEDC-BADF-6F062A23A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2" t="18839" r="9107" b="30527"/>
          <a:stretch/>
        </p:blipFill>
        <p:spPr bwMode="auto">
          <a:xfrm>
            <a:off x="11148514" y="24714"/>
            <a:ext cx="1010534" cy="54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749430-9ACE-315B-0F71-7287B948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ED8D0-0D45-49A6-AFAB-428A084FB54D}" type="slidenum">
              <a:rPr lang="en-US" smtClean="0"/>
              <a:t>18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0C25858-3CDB-40BD-B8BD-77A99A447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52" y="6492875"/>
            <a:ext cx="12126096" cy="365125"/>
          </a:xfrm>
        </p:spPr>
        <p:txBody>
          <a:bodyPr/>
          <a:lstStyle/>
          <a:p>
            <a:r>
              <a:rPr lang="en-US" sz="1600" b="1">
                <a:latin typeface="Garamond" panose="02020404030301010803" pitchFamily="18" charset="0"/>
              </a:rPr>
              <a:t>Artificial Intelligence (CSC-547-UT1)</a:t>
            </a:r>
            <a:endParaRPr lang="en-US" sz="1600" b="1" dirty="0"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21C4D1-00FF-9637-C234-BA52410D3BD5}"/>
              </a:ext>
            </a:extLst>
          </p:cNvPr>
          <p:cNvSpPr txBox="1"/>
          <p:nvPr/>
        </p:nvSpPr>
        <p:spPr>
          <a:xfrm>
            <a:off x="628529" y="2814136"/>
            <a:ext cx="1042936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algn="ctr">
              <a:spcAft>
                <a:spcPts val="100"/>
              </a:spcAft>
            </a:pPr>
            <a:r>
              <a:rPr lang="en-US" sz="5400" b="1" dirty="0">
                <a:latin typeface="Garamond" panose="02020404030301010803" pitchFamily="18" charset="0"/>
                <a:ea typeface="+mn-lt"/>
                <a:cs typeface="+mn-lt"/>
              </a:rPr>
              <a:t>Q / A</a:t>
            </a:r>
          </a:p>
        </p:txBody>
      </p:sp>
    </p:spTree>
    <p:extLst>
      <p:ext uri="{BB962C8B-B14F-4D97-AF65-F5344CB8AC3E}">
        <p14:creationId xmlns:p14="http://schemas.microsoft.com/office/powerpoint/2010/main" val="4925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2518</TotalTime>
  <Words>1421</Words>
  <Application>Microsoft Office PowerPoint</Application>
  <PresentationFormat>Widescreen</PresentationFormat>
  <Paragraphs>283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Garamond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South Dakota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Dudam, Neerajdattu</dc:creator>
  <cp:lastModifiedBy>Dudam, Neerajdattu</cp:lastModifiedBy>
  <cp:revision>14</cp:revision>
  <dcterms:created xsi:type="dcterms:W3CDTF">2024-12-24T18:20:25Z</dcterms:created>
  <dcterms:modified xsi:type="dcterms:W3CDTF">2025-04-14T15:13:44Z</dcterms:modified>
</cp:coreProperties>
</file>